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jmDPn+hViabtQEGtCqQjvo8vRa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C1D5661-CA1B-4B0B-BF73-699FFBA18C49}">
  <a:tblStyle styleId="{3C1D5661-CA1B-4B0B-BF73-699FFBA18C49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 b="off" i="off"/>
      <a:tcStyle>
        <a:fill>
          <a:solidFill>
            <a:srgbClr val="CDD4E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DD4EA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0" name="Google Shape;80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5ace02ada9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g25ace02ada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5ace02ada9_0_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25ace02ada9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5ace02ada9_0_2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g25ace02ada9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5ace02ada9_0_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g25ace02ada9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5ace02ada9_0_2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25ace02ada9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5ace02ada9_0_4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25ace02ada9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5ace02ada9_0_8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g25ace02ada9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5ace02ada9_0_5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g25ace02ada9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5ace02ada9_0_4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g25ace02ada9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8" name="Google Shape;158;p1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" name="Google Shape;15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" name="Google Shape;16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" name="Google Shape;17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" name="Google Shape;18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9" name="Google Shape;19;p5"/>
          <p:cNvCxnSpPr/>
          <p:nvPr/>
        </p:nvCxnSpPr>
        <p:spPr>
          <a:xfrm>
            <a:off x="3939989" y="803400"/>
            <a:ext cx="4312023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_Title and Content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b="0" i="0" sz="6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b="0" i="0" sz="2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4" name="Google Shape;24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0" name="Google Shape;30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2" name="Google Shape;32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6" name="Google Shape;36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7" name="Google Shape;37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b="1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1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1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1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9" name="Google Shape;39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0" name="Google Shape;40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1" name="Google Shape;41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2" name="Google Shape;42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6" name="Google Shape;46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0" name="Google Shape;5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4" name="Google Shape;54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55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55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55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5" name="Google Shape;55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6" name="Google Shape;56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b="0" i="0" sz="3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0" name="Google Shape;70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1" name="Google Shape;71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5" name="Google Shape;7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6" name="Google Shape;7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and orange logo&#10;&#10;Description automatically generated" id="6" name="Google Shape;6;p3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331690" y="245466"/>
            <a:ext cx="1506070" cy="557934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"/>
          <p:cNvSpPr/>
          <p:nvPr/>
        </p:nvSpPr>
        <p:spPr>
          <a:xfrm>
            <a:off x="0" y="1154249"/>
            <a:ext cx="12192000" cy="433960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defRPr sz="3600" b="1"/>
            </a:pPr>
            <a:r>
              <a:rPr sz="3200"/>
              <a:t>TankGuard</a:t>
            </a:r>
            <a:endParaRPr b="0" i="0" sz="16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spcBef>
                <a:spcPts val="600"/>
              </a:spcBef>
              <a:defRPr sz="1400"/>
            </a:pPr>
            <a:r>
              <a:rPr sz="1800"/>
              <a:t>Self-Powered IoT System for In-Tank Water Quality Monitoring and Automated Sediment-Flush</a:t>
            </a:r>
            <a:br/>
            <a:r>
              <a:rPr sz="1800"/>
              <a:t>Dr. Vishnu Vasudev (SBCE, Dept. of ECE)  |  Industry Collaborator: Nuke Labs  |  Theme: IoT TDP 2026 (11)  |  TRL: 6+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Key Points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777240" y="13258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Three local units, one LAN: M1 monitor, H1 home display + pump control, C1 cleaning arm.</a:t>
            </a:r>
          </a:p>
          <a:p>
            <a:pPr>
              <a:spcAft>
                <a:spcPts val="800"/>
              </a:spcAft>
              <a:defRPr sz="1800"/>
            </a:pPr>
            <a:r>
              <a:t>Edge-computed TankScore from five submerged probes; no cloud, no account.</a:t>
            </a:r>
          </a:p>
          <a:p>
            <a:pPr>
              <a:spcAft>
                <a:spcPts val="800"/>
              </a:spcAft>
              <a:defRPr sz="1800"/>
            </a:pPr>
            <a:r>
              <a:t>Dashboard served by the tank unit itself, over its own Wi-Fi.</a:t>
            </a:r>
          </a:p>
          <a:p>
            <a:pPr>
              <a:spcAft>
                <a:spcPts val="800"/>
              </a:spcAft>
              <a:defRPr sz="1800"/>
            </a:pPr>
            <a:r>
              <a:t>Cleaning arm covers 90% of the tank floor per cycle and parks at both ends.</a:t>
            </a:r>
          </a:p>
          <a:p>
            <a:pPr>
              <a:spcAft>
                <a:spcPts val="800"/>
              </a:spcAft>
              <a:defRPr sz="1800"/>
            </a:pPr>
            <a:r>
              <a:t>TRL 6+ in 12 months with three field installations.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25ace02ada9_0_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Problem Statement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777240" y="13258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Water storage tanks degrade silently: disinfectant residual dissipates within 24-48 hours, particles settle into a sludge layer, biofilm forms on the walls, and algae bloom in warm water. By the time the water smells or looks wrong it is unsafe, and the only remedy is a full drain and manual scrub that wastes the whole stored volume.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25ace02ada9_0_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Solution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777240" y="13258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M1 sits on the lid: five submerged probes through an ADS1115, an edge TankScore, and a web dashboard served from its own flash. H1 sits by the pump: a 1.8-inch display, automatic level control through an isolated relay and contactor, and a manual override. C1 is a two-link 20 cm + 20 cm arm that sweeps three concentric rings with a ring brush and draws the loosened sludge out through the centre of the head.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USP / Differentiator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777240" y="13258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Unique points:</a:t>
            </a:r>
          </a:p>
          <a:p>
            <a:pPr>
              <a:spcAft>
                <a:spcPts val="800"/>
              </a:spcAft>
              <a:defRPr sz="1800"/>
            </a:pPr>
            <a:r>
              <a:t>1. Closed-loop care: sense, score, act, verify — with the verification shown, not claimed.</a:t>
            </a:r>
          </a:p>
          <a:p>
            <a:pPr>
              <a:spcAft>
                <a:spcPts val="800"/>
              </a:spcAft>
              <a:defRPr sz="1800"/>
            </a:pPr>
            <a:r>
              <a:t>2. Local-only architecture: no cloud path, no account, works when the internet does not.</a:t>
            </a:r>
          </a:p>
          <a:p>
            <a:pPr>
              <a:spcAft>
                <a:spcPts val="800"/>
              </a:spcAft>
              <a:defRPr sz="1800"/>
            </a:pPr>
            <a:r>
              <a:t>3. Selective cleaning: 90% floor coverage per cycle without draining the tank.</a:t>
            </a:r>
          </a:p>
          <a:p>
            <a:pPr>
              <a:spcAft>
                <a:spcPts val="800"/>
              </a:spcAft>
              <a:defRPr sz="1800"/>
            </a:pPr>
            <a:r>
              <a:t>4. Honest instrumentation: the dashboard states its data source and the arm's 2 cm wall ring.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5ace02ada9_0_22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Impact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777240" y="13258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Quantified impact:</a:t>
            </a:r>
          </a:p>
          <a:p>
            <a:pPr>
              <a:spcAft>
                <a:spcPts val="800"/>
              </a:spcAft>
              <a:defRPr sz="1800"/>
            </a:pPr>
            <a:r>
              <a:t>No full drain: cleaning removes the sludge layer, not the stored volume.</a:t>
            </a:r>
          </a:p>
          <a:p>
            <a:pPr>
              <a:spcAft>
                <a:spcPts val="800"/>
              </a:spcAft>
              <a:defRPr sz="1800"/>
            </a:pPr>
            <a:r>
              <a:t>Pump protection: level-based automatic control with a safe manual override.</a:t>
            </a:r>
          </a:p>
          <a:p>
            <a:pPr>
              <a:spcAft>
                <a:spcPts val="800"/>
              </a:spcAft>
              <a:defRPr sz="1800"/>
            </a:pPr>
            <a:r>
              <a:t>Early warning: a score trend catches degradation before smell or taste.</a:t>
            </a:r>
          </a:p>
          <a:p>
            <a:pPr>
              <a:spcAft>
                <a:spcPts val="800"/>
              </a:spcAft>
              <a:defRPr sz="1800"/>
            </a:pPr>
            <a:r>
              <a:t>Off-grid: solar and battery keep the monitor alive for weeks without sun.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5ace02ada9_0_1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Project Plan / Methodology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777240" y="13258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Methodology:</a:t>
            </a:r>
          </a:p>
          <a:p>
            <a:pPr>
              <a:spcAft>
                <a:spcPts val="800"/>
              </a:spcAft>
              <a:defRPr sz="1800"/>
            </a:pPr>
            <a:r>
              <a:t>M1 (T0+2): probes, TankScore, dashboard served from flash.</a:t>
            </a:r>
          </a:p>
          <a:p>
            <a:pPr>
              <a:spcAft>
                <a:spcPts val="800"/>
              </a:spcAft>
              <a:defRPr sz="1800"/>
            </a:pPr>
            <a:r>
              <a:t>H1 + dashboard (T0+4): TFT, pump control, session log, device table.</a:t>
            </a:r>
          </a:p>
          <a:p>
            <a:pPr>
              <a:spcAft>
                <a:spcPts val="800"/>
              </a:spcAft>
              <a:defRPr sz="1800"/>
            </a:pPr>
            <a:r>
              <a:t>C1 (T0+8): 2R arm, planner, controller, three-ring cycle.</a:t>
            </a:r>
          </a:p>
          <a:p>
            <a:pPr>
              <a:spcAft>
                <a:spcPts val="800"/>
              </a:spcAft>
              <a:defRPr sz="1800"/>
            </a:pPr>
            <a:r>
              <a:t>Field (T0+12): three installations, 90 days, TRL 6+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" name="Google Shape;123;p16"/>
          <p:cNvGraphicFramePr/>
          <p:nvPr/>
        </p:nvGraphicFramePr>
        <p:xfrm>
          <a:off x="751114" y="1471990"/>
          <a:ext cx="3000000" cy="2514600"/>
        </p:xfrm>
        <a:graphic>
          <a:graphicData uri="http://schemas.openxmlformats.org/drawingml/2006/table">
            <a:tbl>
              <a:tblPr bandRow="1" firstRow="1">
                <a:noFill/>
                <a:tableStyleId>{3C1D5661-CA1B-4B0B-BF73-699FFBA18C49}</a:tableStyleId>
              </a:tblPr>
              <a:tblGrid>
                <a:gridCol w="1733625"/>
                <a:gridCol w="4985250"/>
                <a:gridCol w="3350400"/>
              </a:tblGrid>
              <a:tr h="502920">
                <a:tc>
                  <a:txBody>
                    <a:bodyPr/>
                    <a:lstStyle/>
                    <a:p>
                      <a:r>
                        <a:t>No.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Milestone</a:t>
                      </a: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r>
                        <a:t>Time period</a:t>
                      </a:r>
                    </a:p>
                  </a:txBody>
                  <a:tcPr marT="0" marB="0" marR="68575" marL="68575"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r>
                        <a:t>Requirements and monitor prototype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T0 + 2 months</a:t>
                      </a:r>
                    </a:p>
                  </a:txBody>
                  <a:tcPr marT="45725" marB="45725" marR="91450" marL="91450"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r>
                        <a:t>Home unit and dashboard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T0 + 4 months</a:t>
                      </a:r>
                    </a:p>
                  </a:txBody>
                  <a:tcPr marT="45725" marB="45725" marR="91450" marL="91450"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r>
                        <a:t>Cleaning arm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T0 + 8 months</a:t>
                      </a:r>
                    </a:p>
                  </a:txBody>
                  <a:tcPr marT="45725" marB="45725" marR="91450" marL="91450"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r>
                        <a:t>Field validation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T0 + 12 months</a:t>
                      </a: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4" name="Google Shape;124;p16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Milestones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5ace02ada9_0_2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Market Size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777240" y="13258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Market: domestic and institutional water storage tanks — homes, apartment buildings, schools, hospitals and small industry. The buyer is the same person who pays the plumber today; the value is water saved, pump life and a measurable answer to "is my water safe?"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" name="Google Shape;137;g25ace02ada9_0_40"/>
          <p:cNvGraphicFramePr/>
          <p:nvPr/>
        </p:nvGraphicFramePr>
        <p:xfrm>
          <a:off x="849085" y="1975757"/>
          <a:ext cx="3000000" cy="3017520"/>
        </p:xfrm>
        <a:graphic>
          <a:graphicData uri="http://schemas.openxmlformats.org/drawingml/2006/table">
            <a:tbl>
              <a:tblPr bandRow="1" firstRow="1">
                <a:noFill/>
                <a:tableStyleId>{3C1D5661-CA1B-4B0B-BF73-699FFBA18C49}</a:tableStyleId>
              </a:tblPr>
              <a:tblGrid>
                <a:gridCol w="2155375"/>
                <a:gridCol w="2155375"/>
                <a:gridCol w="2155375"/>
                <a:gridCol w="2155375"/>
                <a:gridCol w="2155375"/>
              </a:tblGrid>
              <a:tr h="502920">
                <a:tc>
                  <a:txBody>
                    <a:bodyPr/>
                    <a:lstStyle/>
                    <a:p>
                      <a:r>
                        <a:t>No.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Item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Specification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Amount (INR)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Phase</a:t>
                      </a:r>
                    </a:p>
                  </a:txBody>
                  <a:tcPr marT="45725" marB="45725" marR="91450" marL="91450"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M1 monitor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ESP8266 + 5 probes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6,500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T0</a:t>
                      </a:r>
                    </a:p>
                  </a:txBody>
                  <a:tcPr marT="45725" marB="45725" marR="91450" marL="91450"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H1 home unit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ESP8266 + TFT + relay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1,800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T0 + 4</a:t>
                      </a:r>
                    </a:p>
                  </a:txBody>
                  <a:tcPr marT="45725" marB="45725" marR="91450" marL="91450"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C1 cleaning arm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ESP32 + 2 motors + pump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7,300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T0 + 8</a:t>
                      </a:r>
                    </a:p>
                  </a:txBody>
                  <a:tcPr marT="45725" marB="45725" marR="91450" marL="91450"/>
                </a:tc>
              </a:tr>
              <a:tr h="502920">
                <a:tc>
                  <a:txBody>
                    <a:bodyPr/>
                    <a:lstStyle/>
                    <a:p/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Equipment total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/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15,600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/>
                  </a:txBody>
                  <a:tcPr marT="45725" marB="45725" marR="91450" marL="91450"/>
                </a:tc>
              </a:tr>
              <a:tr h="502920">
                <a:tc>
                  <a:txBody>
                    <a:bodyPr/>
                    <a:lstStyle/>
                    <a:p/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Grand total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incl. contingency, overhead, fee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r>
                        <a:t>23,587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/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38" name="Google Shape;138;g25ace02ada9_0_40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Resources &amp; Budget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5ace02ada9_0_88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Funding So Far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TextBox 144"/>
          <p:cNvSpPr txBox="1"/>
          <p:nvPr/>
        </p:nvSpPr>
        <p:spPr>
          <a:xfrm>
            <a:off x="777240" y="13258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Funding so far: not yet secured. Nuke Labs is committed as the industry partner for build facilities, field access and TRL 6+ validation.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5ace02ada9_0_59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Team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777240" y="13258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Team:</a:t>
            </a:r>
          </a:p>
          <a:p>
            <a:pPr>
              <a:spcAft>
                <a:spcPts val="800"/>
              </a:spcAft>
              <a:defRPr sz="1800"/>
            </a:pPr>
            <a:r>
              <a:t>Principal Investigator: Dr. Vishnu Vasudev, Department of Electronics and Communication Engineering.</a:t>
            </a:r>
          </a:p>
          <a:p>
            <a:pPr>
              <a:spcAft>
                <a:spcPts val="800"/>
              </a:spcAft>
              <a:defRPr sz="1800"/>
            </a:pPr>
            <a:r>
              <a:t>Industry partner: Nuke Labs — hardware build, field installations, commercialisation.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25ace02ada9_0_47"/>
          <p:cNvSpPr txBox="1"/>
          <p:nvPr/>
        </p:nvSpPr>
        <p:spPr>
          <a:xfrm>
            <a:off x="3638550" y="238125"/>
            <a:ext cx="5000625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sz="1400" b="1"/>
            </a:pPr>
            <a:r>
              <a:t>Conclusion</a:t>
            </a:r>
            <a:endParaRPr b="1" i="0" sz="2800" u="none" cap="none" strike="noStrike">
              <a:solidFill>
                <a:srgbClr val="05539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TextBox 155"/>
          <p:cNvSpPr txBox="1"/>
          <p:nvPr/>
        </p:nvSpPr>
        <p:spPr>
          <a:xfrm>
            <a:off x="777240" y="13258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TankGuard turns tank maintenance from calendar guesswork into measured care: sensing at the edge, deciding locally, cleaning selectively, and showing its own evidence.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7179" y="1318200"/>
            <a:ext cx="7498389" cy="4221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2021-07-30T08:41:46Z</dcterms:created>
  <dc:creator>Admin</dc:creator>
</cp:coreProperties>
</file>