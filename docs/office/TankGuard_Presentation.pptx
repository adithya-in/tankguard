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mDPn+hViabtQEGtCqQjvo8vRa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1D5661-CA1B-4B0B-BF73-699FFBA18C49}">
  <a:tblStyle styleId="{3C1D5661-CA1B-4B0B-BF73-699FFBA18C4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5ace02ada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25ace02ad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5ace02ada9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25ace02ada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5ace02ada9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25ace02ada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5ace02ada9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25ace02ada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5ace02ada9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25ace02ada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5ace02ada9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25ace02ada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5ace02ada9_0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25ace02ada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5ace02ada9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25ace02ada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ace02ada9_0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25ace02ada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" name="Google Shape;19;p5"/>
          <p:cNvCxnSpPr/>
          <p:nvPr/>
        </p:nvCxnSpPr>
        <p:spPr>
          <a:xfrm>
            <a:off x="3939989" y="803400"/>
            <a:ext cx="431202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orange logo&#10;&#10;Description automatically generated" id="6" name="Google Shape;6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31690" y="245466"/>
            <a:ext cx="1506070" cy="55793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/>
          <p:nvPr/>
        </p:nvSpPr>
        <p:spPr>
          <a:xfrm>
            <a:off x="0" y="1154249"/>
            <a:ext cx="12192000" cy="4339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1"/>
            </a:pPr>
            <a:r>
              <a:rPr sz="2000"/>
              <a:t>TankGuard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sz="2000"/>
              <a:t>Self-powered IoT water-tank monitoring, pump control and automated sludge cleaning</a:t>
            </a:r>
          </a:p>
          <a:p>
            <a:r>
              <a:rPr sz="2000"/>
              <a:t>Dr. Vishnu Vasudev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/>
          <p:nvPr>
            <p:ph idx="1" type="body"/>
          </p:nvPr>
        </p:nvSpPr>
        <p:spPr>
          <a:xfrm>
            <a:off x="411701" y="1171921"/>
            <a:ext cx="11368598" cy="5990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800"/>
              <a:buChar char="•"/>
              <a:defRPr sz="1800" b="1"/>
            </a:pPr>
            <a:r>
              <a:rPr sz="1600"/>
              <a:t>Key Points:</a:t>
            </a:r>
            <a:endParaRPr sz="2000">
              <a:solidFill>
                <a:srgbClr val="888888"/>
              </a:solidFill>
            </a:endParaRPr>
          </a:p>
          <a:p>
            <a:r>
              <a:rPr sz="1600"/>
              <a:t>- Three local units, one LAN: M1 monitor, H1 home display + pump control, C1 cleaning arm.</a:t>
            </a:r>
          </a:p>
          <a:p>
            <a:r>
              <a:rPr sz="1600"/>
              <a:t>- Edge-computed TankScore from five submerged probes; no cloud, no account.</a:t>
            </a:r>
          </a:p>
          <a:p>
            <a:r>
              <a:rPr sz="1600"/>
              <a:t>- Dashboard served by the tank unit itself, over its own Wi-Fi.</a:t>
            </a:r>
          </a:p>
          <a:p>
            <a:r>
              <a:rPr sz="1600"/>
              <a:t>- Cleaning arm covers 90% of the tank floor per cycle and parks at both ends.</a:t>
            </a:r>
          </a:p>
          <a:p>
            <a:r>
              <a:rPr sz="1600"/>
              <a:t>- TRL 6+ in 12 months with three field installations.</a:t>
            </a:r>
          </a:p>
        </p:txBody>
      </p:sp>
      <p:sp>
        <p:nvSpPr>
          <p:cNvPr id="88" name="Google Shape;88;p2"/>
          <p:cNvSpPr txBox="1"/>
          <p:nvPr/>
        </p:nvSpPr>
        <p:spPr>
          <a:xfrm>
            <a:off x="3638550" y="238125"/>
            <a:ext cx="5000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1"/>
            </a:pPr>
            <a:r>
              <a:t>Guidelines</a:t>
            </a:r>
            <a:endParaRPr b="1" i="0" sz="2800" u="none" cap="none" strike="noStrike">
              <a:solidFill>
                <a:srgbClr val="05539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5ace02ada9_0_0"/>
          <p:cNvSpPr txBox="1"/>
          <p:nvPr>
            <p:ph idx="1" type="body"/>
          </p:nvPr>
        </p:nvSpPr>
        <p:spPr>
          <a:xfrm>
            <a:off x="492100" y="11138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/>
            </a:pPr>
            <a:r>
              <a:rPr sz="1600"/>
              <a:t>Water storage tanks degrade silently: disinfectant residual dissipates within 24-48 hours, particles settle into a sludge layer, biofilm forms on the walls, and algae bloom in warm water. By the time the water smells or looks wrong it is unsafe, and the only remedy is a full drain and manual scrub that wastes the whole stored volume.</a:t>
            </a:r>
            <a:endParaRPr sz="2000">
              <a:solidFill>
                <a:srgbClr val="888888"/>
              </a:solidFill>
            </a:endParaRPr>
          </a:p>
        </p:txBody>
      </p:sp>
      <p:sp>
        <p:nvSpPr>
          <p:cNvPr id="94" name="Google Shape;94;g25ace02ada9_0_0"/>
          <p:cNvSpPr txBox="1"/>
          <p:nvPr/>
        </p:nvSpPr>
        <p:spPr>
          <a:xfrm>
            <a:off x="3638550" y="238125"/>
            <a:ext cx="5000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1"/>
            </a:pPr>
            <a:r>
              <a:t>Problem Statement</a:t>
            </a:r>
            <a:endParaRPr b="1" i="0" sz="2800" u="none" cap="none" strike="noStrike">
              <a:solidFill>
                <a:srgbClr val="05539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ace02ada9_0_5"/>
          <p:cNvSpPr txBox="1"/>
          <p:nvPr>
            <p:ph idx="1" type="body"/>
          </p:nvPr>
        </p:nvSpPr>
        <p:spPr>
          <a:xfrm>
            <a:off x="881062" y="988075"/>
            <a:ext cx="105156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400"/>
            </a:pPr>
            <a:r>
              <a:rPr sz="1600"/>
              <a:t>M1 sits on the lid: five submerged probes through an ADS1115, an edge TankScore, and a web dashboard served from its own flash. H1 sits by the pump: a 1.8" display, automatic level control through an isolated relay and contactor, and a manual override. C1 is a two-link 20 cm + 20 cm arm that sweeps three concentric rings with a ring brush and draws the loosened sludge out through the centre of the head.</a:t>
            </a:r>
            <a:endParaRPr/>
          </a:p>
        </p:txBody>
      </p:sp>
      <p:sp>
        <p:nvSpPr>
          <p:cNvPr id="100" name="Google Shape;100;g25ace02ada9_0_5"/>
          <p:cNvSpPr txBox="1"/>
          <p:nvPr/>
        </p:nvSpPr>
        <p:spPr>
          <a:xfrm>
            <a:off x="3638550" y="238125"/>
            <a:ext cx="5000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1"/>
            </a:pPr>
            <a:r>
              <a:t>Solution</a:t>
            </a:r>
            <a:endParaRPr b="1" i="0" sz="2800" u="none" cap="none" strike="noStrike">
              <a:solidFill>
                <a:srgbClr val="05539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881062" y="988075"/>
            <a:ext cx="105156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300"/>
            </a:pPr>
            <a:r>
              <a:rPr sz="1600"/>
              <a:t>Unique points:</a:t>
            </a:r>
            <a:endParaRPr/>
          </a:p>
          <a:p>
            <a:r>
              <a:rPr sz="1600"/>
              <a:t>1. Closed-loop care: sense, score, act, verify - with the verification shown, not claimed.</a:t>
            </a:r>
          </a:p>
          <a:p>
            <a:r>
              <a:rPr sz="1600"/>
              <a:t>2. Local-only architecture: no cloud path, no account, works when the internet does not.</a:t>
            </a:r>
          </a:p>
          <a:p>
            <a:r>
              <a:rPr sz="1600"/>
              <a:t>3. Selective cleaning: 90% floor coverage per cycle without draining the tank.</a:t>
            </a:r>
          </a:p>
          <a:p>
            <a:r>
              <a:rPr sz="1600"/>
              <a:t>4. Honest instrumentation: the dashboard states its data source and the arm's 2 cm wall ring.</a:t>
            </a:r>
          </a:p>
        </p:txBody>
      </p:sp>
      <p:sp>
        <p:nvSpPr>
          <p:cNvPr id="106" name="Google Shape;106;p15"/>
          <p:cNvSpPr txBox="1"/>
          <p:nvPr/>
        </p:nvSpPr>
        <p:spPr>
          <a:xfrm>
            <a:off x="3638550" y="238125"/>
            <a:ext cx="5000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1"/>
            </a:pPr>
            <a:r>
              <a:t>USP / Differentiator</a:t>
            </a:r>
            <a:endParaRPr b="1" i="0" sz="2800" u="none" cap="none" strike="noStrike">
              <a:solidFill>
                <a:srgbClr val="05539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5ace02ada9_0_22"/>
          <p:cNvSpPr txBox="1"/>
          <p:nvPr>
            <p:ph idx="1" type="body"/>
          </p:nvPr>
        </p:nvSpPr>
        <p:spPr>
          <a:xfrm>
            <a:off x="666750" y="11493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300"/>
            </a:pPr>
            <a:r>
              <a:rPr sz="1600"/>
              <a:t>Quantified impact:</a:t>
            </a:r>
            <a:endParaRPr/>
          </a:p>
          <a:p>
            <a:r>
              <a:rPr sz="1600"/>
              <a:t>- No full drain: cleaning removes the sludge layer, not the stored volume.</a:t>
            </a:r>
          </a:p>
          <a:p>
            <a:r>
              <a:rPr sz="1600"/>
              <a:t>- Pump protection: level-based automatic control with a safe manual override.</a:t>
            </a:r>
          </a:p>
          <a:p>
            <a:r>
              <a:rPr sz="1600"/>
              <a:t>- Early warning: a score trend catches degradation before smell or taste.</a:t>
            </a:r>
          </a:p>
          <a:p>
            <a:r>
              <a:rPr sz="1600"/>
              <a:t>- Off-grid: solar + battery keeps the monitor alive for weeks without sun.</a:t>
            </a:r>
          </a:p>
        </p:txBody>
      </p:sp>
      <p:sp>
        <p:nvSpPr>
          <p:cNvPr id="112" name="Google Shape;112;g25ace02ada9_0_22"/>
          <p:cNvSpPr txBox="1"/>
          <p:nvPr/>
        </p:nvSpPr>
        <p:spPr>
          <a:xfrm>
            <a:off x="3638550" y="238125"/>
            <a:ext cx="5000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1"/>
            </a:pPr>
            <a:r>
              <a:t>Impact</a:t>
            </a:r>
            <a:endParaRPr b="1" i="0" sz="2800" u="none" cap="none" strike="noStrike">
              <a:solidFill>
                <a:srgbClr val="05539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5ace02ada9_0_17"/>
          <p:cNvSpPr txBox="1"/>
          <p:nvPr>
            <p:ph idx="1" type="body"/>
          </p:nvPr>
        </p:nvSpPr>
        <p:spPr>
          <a:xfrm>
            <a:off x="554400" y="1383400"/>
            <a:ext cx="10515600" cy="5109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300"/>
            </a:pPr>
            <a:r>
              <a:rPr sz="1600"/>
              <a:t>Methodology:</a:t>
            </a:r>
            <a:endParaRPr/>
          </a:p>
          <a:p>
            <a:r>
              <a:rPr sz="1600"/>
              <a:t>M1 (T0+2): probes, TankScore, dashboard served from flash.</a:t>
            </a:r>
          </a:p>
          <a:p>
            <a:r>
              <a:rPr sz="1600"/>
              <a:t>H1 + dashboard (T0+4): TFT, pump control, session log, device table.</a:t>
            </a:r>
          </a:p>
          <a:p>
            <a:r>
              <a:rPr sz="1600"/>
              <a:t>C1 (T0+8): 2R arm, planner, controller, three-ring cycle.</a:t>
            </a:r>
          </a:p>
          <a:p>
            <a:r>
              <a:rPr sz="1600"/>
              <a:t>Field (T0+12): three installations, 90 days, TRL 6+ evidence.</a:t>
            </a:r>
          </a:p>
        </p:txBody>
      </p:sp>
      <p:sp>
        <p:nvSpPr>
          <p:cNvPr id="118" name="Google Shape;118;g25ace02ada9_0_17"/>
          <p:cNvSpPr txBox="1"/>
          <p:nvPr/>
        </p:nvSpPr>
        <p:spPr>
          <a:xfrm>
            <a:off x="3638550" y="238125"/>
            <a:ext cx="5000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1"/>
            </a:pPr>
            <a:r>
              <a:t>Project Plan / Methodology</a:t>
            </a:r>
            <a:endParaRPr b="1" i="0" sz="2800" u="none" cap="none" strike="noStrike">
              <a:solidFill>
                <a:srgbClr val="05539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Google Shape;123;p16"/>
          <p:cNvGraphicFramePr/>
          <p:nvPr/>
        </p:nvGraphicFramePr>
        <p:xfrm>
          <a:off x="751114" y="14719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{3C1D5661-CA1B-4B0B-BF73-699FFBA18C49}</a:tableStyleId>
              </a:tblPr>
              <a:tblGrid>
                <a:gridCol w="1733625"/>
                <a:gridCol w="4985250"/>
                <a:gridCol w="3350400"/>
              </a:tblGrid>
              <a:tr h="55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Milestone Details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 Period Required from To (To Being Project Start Date)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1547125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r>
                        <a:t>Requirements and monitor prototype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r>
                        <a:t>T0 + 2 months</a:t>
                      </a:r>
                    </a:p>
                  </a:txBody>
                  <a:tcPr marT="45725" marB="45725" marR="91450" marL="91450"/>
                </a:tc>
              </a:tr>
              <a:tr h="113145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r>
                        <a:t>Home unit and dashboard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r>
                        <a:t>T0 + 4 months</a:t>
                      </a:r>
                    </a:p>
                  </a:txBody>
                  <a:tcPr marT="45725" marB="45725" marR="91450" marL="91450"/>
                </a:tc>
              </a:tr>
              <a:tr h="89285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r>
                        <a:t>Cleaning arm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r>
                        <a:t>T0 + 8 months</a:t>
                      </a:r>
                    </a:p>
                  </a:txBody>
                  <a:tcPr marT="45725" marB="45725" marR="91450" marL="91450"/>
                </a:tc>
              </a:tr>
              <a:tr h="641925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r>
                        <a:t>Field validation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r>
                        <a:t>T0 + 12 months</a:t>
                      </a: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4" name="Google Shape;124;p16"/>
          <p:cNvSpPr txBox="1"/>
          <p:nvPr/>
        </p:nvSpPr>
        <p:spPr>
          <a:xfrm>
            <a:off x="3638550" y="238125"/>
            <a:ext cx="5000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1"/>
            </a:pPr>
            <a:r>
              <a:rPr sz="1600"/>
              <a:t>Milestones:</a:t>
            </a:r>
            <a:endParaRPr b="1" i="0" sz="2800" u="none" cap="none" strike="noStrike">
              <a:solidFill>
                <a:srgbClr val="05539C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600"/>
              <a:t>1  Requirements and monitor prototype - T0 + 2 months</a:t>
            </a:r>
          </a:p>
          <a:p>
            <a:r>
              <a:rPr sz="1600"/>
              <a:t>2  Home unit and dashboard - T0 + 4 months</a:t>
            </a:r>
          </a:p>
          <a:p>
            <a:r>
              <a:rPr sz="1600"/>
              <a:t>3  Cleaning arm - T0 + 8 months</a:t>
            </a:r>
          </a:p>
          <a:p>
            <a:r>
              <a:rPr sz="1600"/>
              <a:t>4  Field validation - T0 + 12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5ace02ada9_0_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30" name="Google Shape;130;g25ace02ada9_0_28"/>
          <p:cNvSpPr txBox="1"/>
          <p:nvPr>
            <p:ph idx="1" type="body"/>
          </p:nvPr>
        </p:nvSpPr>
        <p:spPr>
          <a:xfrm>
            <a:off x="723862" y="1205050"/>
            <a:ext cx="10830000" cy="38967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300"/>
            </a:pPr>
            <a:r>
              <a:rPr sz="1600"/>
              <a:t>Market: domestic and institutional water storage tanks - homes, apartment buildings, schools, hospitals and small industry. The buyer is the same person who pays the plumber today; the value is water saved, pump life and a measurable answer to "is my water safe?".</a:t>
            </a:r>
            <a:endParaRPr/>
          </a:p>
        </p:txBody>
      </p:sp>
      <p:sp>
        <p:nvSpPr>
          <p:cNvPr id="131" name="Google Shape;131;g25ace02ada9_0_28"/>
          <p:cNvSpPr txBox="1"/>
          <p:nvPr/>
        </p:nvSpPr>
        <p:spPr>
          <a:xfrm>
            <a:off x="3638550" y="238125"/>
            <a:ext cx="5000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1"/>
            </a:pPr>
            <a:r>
              <a:t>Market Size</a:t>
            </a:r>
            <a:endParaRPr b="1" i="0" sz="2800" u="none" cap="none" strike="noStrike">
              <a:solidFill>
                <a:srgbClr val="05539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5ace02ada9_0_40"/>
          <p:cNvSpPr txBox="1"/>
          <p:nvPr>
            <p:ph idx="1" type="body"/>
          </p:nvPr>
        </p:nvSpPr>
        <p:spPr>
          <a:xfrm>
            <a:off x="979713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200"/>
            </a:pPr>
            <a:r>
              <a:rPr sz="1600"/>
              <a:t>Resources and budget (indicative, excl. GST):</a:t>
            </a:r>
            <a:endParaRPr/>
          </a:p>
          <a:p>
            <a:r>
              <a:rPr sz="1600"/>
              <a:t>M1 monitor: INR 6,500</a:t>
            </a:r>
          </a:p>
          <a:p>
            <a:r>
              <a:rPr sz="1600"/>
              <a:t>H1 home unit: INR 1,800</a:t>
            </a:r>
          </a:p>
          <a:p>
            <a:r>
              <a:rPr sz="1600"/>
              <a:t>C1 cleaning arm: INR 7,300</a:t>
            </a:r>
          </a:p>
          <a:p>
            <a:r>
              <a:rPr sz="1600"/>
              <a:t>Equipment total: INR 15,600; with contingency, overhead and faculty fee: INR 23,587.</a:t>
            </a:r>
          </a:p>
        </p:txBody>
      </p:sp>
      <p:graphicFrame>
        <p:nvGraphicFramePr>
          <p:cNvPr id="137" name="Google Shape;137;g25ace02ada9_0_40"/>
          <p:cNvGraphicFramePr/>
          <p:nvPr/>
        </p:nvGraphicFramePr>
        <p:xfrm>
          <a:off x="849085" y="19757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{3C1D5661-CA1B-4B0B-BF73-699FFBA18C49}</a:tableStyleId>
              </a:tblPr>
              <a:tblGrid>
                <a:gridCol w="2155375"/>
                <a:gridCol w="2155375"/>
                <a:gridCol w="2155375"/>
                <a:gridCol w="2155375"/>
                <a:gridCol w="2155375"/>
              </a:tblGrid>
              <a:tr h="41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Sr. No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Item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T0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T0+6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Total (Add more columns if requir</a:t>
                      </a:r>
                      <a:r>
                        <a:rPr lang="en-US"/>
                        <a:t>ed)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5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5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5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5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5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8" name="Google Shape;138;g25ace02ada9_0_40"/>
          <p:cNvSpPr txBox="1"/>
          <p:nvPr/>
        </p:nvSpPr>
        <p:spPr>
          <a:xfrm>
            <a:off x="3638550" y="238125"/>
            <a:ext cx="5000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1"/>
            </a:pPr>
            <a:r>
              <a:t>Resources &amp; Budget</a:t>
            </a:r>
            <a:endParaRPr b="1" i="0" sz="2800" u="none" cap="none" strike="noStrike">
              <a:solidFill>
                <a:srgbClr val="05539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5ace02ada9_0_88"/>
          <p:cNvSpPr txBox="1"/>
          <p:nvPr>
            <p:ph idx="1" type="body"/>
          </p:nvPr>
        </p:nvSpPr>
        <p:spPr>
          <a:xfrm>
            <a:off x="881062" y="1425575"/>
            <a:ext cx="105156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300"/>
            </a:pPr>
            <a:r>
              <a:rPr sz="1600"/>
              <a:t>Funding so far: not yet secured. Nuke Labs is committed as the industry partner for build facilities, field access and TRL 6+ validation.</a:t>
            </a:r>
            <a:endParaRPr sz="2000"/>
          </a:p>
        </p:txBody>
      </p:sp>
      <p:sp>
        <p:nvSpPr>
          <p:cNvPr id="144" name="Google Shape;144;g25ace02ada9_0_88"/>
          <p:cNvSpPr txBox="1"/>
          <p:nvPr/>
        </p:nvSpPr>
        <p:spPr>
          <a:xfrm>
            <a:off x="3638550" y="238125"/>
            <a:ext cx="5000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1"/>
            </a:pPr>
            <a:r>
              <a:t>Funding So Far</a:t>
            </a:r>
            <a:endParaRPr b="1" i="0" sz="2800" u="none" cap="none" strike="noStrike">
              <a:solidFill>
                <a:srgbClr val="05539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ace02ada9_0_59"/>
          <p:cNvSpPr txBox="1"/>
          <p:nvPr>
            <p:ph idx="1" type="body"/>
          </p:nvPr>
        </p:nvSpPr>
        <p:spPr>
          <a:xfrm>
            <a:off x="881062" y="116840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300"/>
            </a:pPr>
            <a:r>
              <a:rPr sz="1600"/>
              <a:t>Team:</a:t>
            </a:r>
            <a:endParaRPr sz="2000">
              <a:solidFill>
                <a:srgbClr val="888888"/>
              </a:solidFill>
            </a:endParaRPr>
          </a:p>
          <a:p>
            <a:r>
              <a:rPr sz="1600"/>
              <a:t>Principal Investigator: Dr. Vishnu Vasudev, Department of Electronics and Communication Engineering.</a:t>
            </a:r>
          </a:p>
          <a:p>
            <a:r>
              <a:rPr sz="1600"/>
              <a:t>Industry partner: Nuke Labs - hardware build, field installations, commercialisation.</a:t>
            </a:r>
          </a:p>
        </p:txBody>
      </p:sp>
      <p:sp>
        <p:nvSpPr>
          <p:cNvPr id="150" name="Google Shape;150;g25ace02ada9_0_59"/>
          <p:cNvSpPr txBox="1"/>
          <p:nvPr/>
        </p:nvSpPr>
        <p:spPr>
          <a:xfrm>
            <a:off x="3638550" y="238125"/>
            <a:ext cx="5000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1"/>
            </a:pPr>
            <a:r>
              <a:t>Team</a:t>
            </a:r>
            <a:endParaRPr b="1" i="0" sz="2800" u="none" cap="none" strike="noStrike">
              <a:solidFill>
                <a:srgbClr val="05539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5ace02ada9_0_47"/>
          <p:cNvSpPr txBox="1"/>
          <p:nvPr/>
        </p:nvSpPr>
        <p:spPr>
          <a:xfrm>
            <a:off x="3638550" y="238125"/>
            <a:ext cx="5000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1"/>
            </a:pPr>
            <a:r>
              <a:rPr sz="1600"/>
              <a:t>TankGuard turns tank maintenance from calendar guesswork into measured care: sensing at the edge, deciding locally, cleaning selectively, and showing its own evidence.</a:t>
            </a:r>
            <a:endParaRPr b="1" i="0" sz="2800" u="none" cap="none" strike="noStrike">
              <a:solidFill>
                <a:srgbClr val="05539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7179" y="1318200"/>
            <a:ext cx="7498389" cy="422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2021-07-30T08:41:46Z</dcterms:created>
  <dc:creator>Admin</dc:creator>
</cp:coreProperties>
</file>