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0" roundtripDataSignature="AMtx7mjmDPn+hViabtQEGtCqQjvo8vRaZ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C1D5661-CA1B-4B0B-BF73-699FFBA18C49}">
  <a:tblStyle styleId="{3C1D5661-CA1B-4B0B-BF73-699FFBA18C49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BF5"/>
          </a:solidFill>
        </a:fill>
      </a:tcStyle>
    </a:wholeTbl>
    <a:band1H>
      <a:tcTxStyle b="off" i="off"/>
      <a:tcStyle>
        <a:fill>
          <a:solidFill>
            <a:srgbClr val="CDD4EA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DD4EA"/>
          </a:solidFill>
        </a:fill>
      </a:tcStyle>
    </a:band1V>
    <a:band2V>
      <a:tcTxStyle b="off" i="off"/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0" name="Google Shape;80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5" name="Google Shape;85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5ace02ada9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g25ace02ada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5ace02ada9_0_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25ace02ada9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25ace02ada9_0_2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g25ace02ada9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25ace02ada9_0_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25ace02ada9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25ace02ada9_0_2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g25ace02ada9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25ace02ada9_0_4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25ace02ada9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5ace02ada9_0_8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1" name="Google Shape;141;g25ace02ada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5ace02ada9_0_5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g25ace02ada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ace02ada9_0_4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" name="Google Shape;153;g25ace02ada9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8" name="Google Shape;158;p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4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b="0" i="0" sz="6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4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" name="Google Shape;15;p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" name="Google Shape;16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" name="Google Shape;17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" name="Google Shape;18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9" name="Google Shape;19;p5"/>
          <p:cNvCxnSpPr/>
          <p:nvPr/>
        </p:nvCxnSpPr>
        <p:spPr>
          <a:xfrm>
            <a:off x="3939989" y="803400"/>
            <a:ext cx="4312023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_Title and Content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b="0" i="0" sz="6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3" name="Google Shape;23;p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4" name="Google Shape;24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" name="Google Shape;29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0" name="Google Shape;30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1" name="Google Shape;31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2" name="Google Shape;32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3" name="Google Shape;33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6" name="Google Shape;36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1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7" name="Google Shape;37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1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9" name="Google Shape;39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0" name="Google Shape;40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1" name="Google Shape;41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2" name="Google Shape;42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6" name="Google Shape;46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7" name="Google Shape;47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0" name="Google Shape;50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1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55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55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55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1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6" name="Google Shape;56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2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9" name="Google Shape;69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0" name="Google Shape;70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1" name="Google Shape;71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5" name="Google Shape;75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6" name="Google Shape;76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ue and orange logo&#10;&#10;Description automatically generated" id="6" name="Google Shape;6;p3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331690" y="245466"/>
            <a:ext cx="1506070" cy="557934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"/>
          <p:cNvSpPr/>
          <p:nvPr/>
        </p:nvSpPr>
        <p:spPr>
          <a:xfrm>
            <a:off x="0" y="1154249"/>
            <a:ext cx="12192000" cy="43396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>
                <a:srgbClr val="000000"/>
              </a:buClr>
              <a:buSzPts val="3600"/>
              <a:buFont typeface="Arial"/>
              <a:buNone/>
              <a:defRPr sz="3600" b="1"/>
            </a:pPr>
            <a:r>
              <a:rPr sz="4600" b="1" i="0">
                <a:solidFill>
                  <a:srgbClr val="1F3864"/>
                </a:solidFill>
                <a:latin typeface="Calibri"/>
              </a:rPr>
              <a:t>TankGuard</a:t>
            </a:r>
            <a:endParaRPr b="0" i="0" sz="16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ct val="100000"/>
              </a:lnSpc>
              <a:spcAft>
                <a:spcPts val="2000"/>
              </a:spcAft>
            </a:pPr>
            <a:r>
              <a:rPr sz="1900" b="0" i="0">
                <a:solidFill>
                  <a:srgbClr val="595959"/>
                </a:solidFill>
                <a:latin typeface="Calibri"/>
              </a:rPr>
              <a:t>Self-powered monitoring, pump control and sludge cleaning for water tanks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E74B5"/>
                </a:solidFill>
                <a:latin typeface="Calibri"/>
              </a:rPr>
              <a:t>Dr. Vishnu Vasudev  |  Nuke Labs (industry partner)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TIH IoT Technology Development Program 2026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Submission: 31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problem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A tank degrades quietly, and the owner finds out weeks later.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58368" y="5102352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676656" y="5212080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96112" y="5175504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By the time the problem is visible, the water has been unsafe for weeks.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58368" y="2148840"/>
            <a:ext cx="5285232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932688" y="2258568"/>
            <a:ext cx="4736592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Inside the tank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Chlorine residual falls to zero within 24 to 48 hours of filling.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Suspended solids settle into a sludge layer on the floor.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Biofilm forms on the walls, and algae grow faster in warm water.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45352" y="2148840"/>
            <a:ext cx="5285232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6519672" y="2258568"/>
            <a:ext cx="4736592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What the owner sees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Cleaning happens on a calendar, usually once or twice a year.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Safety is judged by smell, colour and taste.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Nothing records how the water changed since the last clean.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25ace02ada9_0_0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Why current practice fails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two available options each solve half of the problem.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58368" y="5102352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676656" y="5212080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96112" y="5175504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Schools, hospitals and apartment buildings clean the largest volumes on the loosest schedule.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58368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932688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Monitor only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Sensors report turbidity and TDS and stop there.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sludge layer keeps feeding the reading, so the warning repeats.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352544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4626864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Drain and scrub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A full drain discards the stored water.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It needs labour and a shutdown, and leaves the tank empty for hours.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046720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8321040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No record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Neither option measures the water before and after the clean.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owner cannot tell whether the work helped.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25ace02ada9_0_5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system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Three units on one local network, with no cloud service and no account.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58368" y="5102352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676656" y="5212080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96112" y="5175504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dashboard is served by the tank unit itself, so it keeps working when the internet does not.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58368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932688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M1  Tank monitor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ESP8266 on the tank lid.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Five submerged probes read through a 16-bit ADC.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Computes the score and serves the dashboard from its own flash.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352544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4626864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H1  Home unit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ESP8266 beside the pump switch.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1.8 inch colour display for the score and the four readings.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Isolated relay and contactor, with automatic and manual pump control.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046720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8321040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C1  Cleaning arm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ESP32 controller.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Two 20 cm links, a ring brush and a suction head.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Runs a planned path over the floor and keeps the water in the tank.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5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score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Five readings become one number between 0 and 100.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58368" y="2084831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Turbidity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542032" y="2130551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2542032" y="2130551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138928" y="2084831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40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8368" y="26517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TDS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542032" y="2697479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2542032" y="2697479"/>
            <a:ext cx="1571625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138928" y="2651760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8368" y="3218687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pH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542032" y="3264407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2542032" y="3264407"/>
            <a:ext cx="1571625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38928" y="3218687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25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58368" y="3785615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Temperature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542032" y="3831335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2542032" y="3831335"/>
            <a:ext cx="628650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138928" y="3785615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10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58368" y="449884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Weights out of 100. Water level is tracked for pump control and is not part of the score.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309360" y="2084831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GOOD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092440" y="2066543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Score 70 to 100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Water is within limits. Keep the normal cycle.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309360" y="3163824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WATCH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92440" y="3145536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Score 40 to 69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One parameter is drifting. Plan a clean.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309360" y="4242816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ATTENTION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92440" y="4224528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Score below 40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Clean now, then check the source water.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58368" y="5138928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676656" y="5248656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896112" y="5212080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same bands drive the tank display and the dashboard, so the two never disagree.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25ace02ada9_0_22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cleaning arm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arm cleans the floor and the tank keeps its water.</a:t>
            </a:r>
          </a:p>
        </p:txBody>
      </p:sp>
      <p:sp>
        <p:nvSpPr>
          <p:cNvPr id="114" name="Oval 113"/>
          <p:cNvSpPr/>
          <p:nvPr/>
        </p:nvSpPr>
        <p:spPr>
          <a:xfrm>
            <a:off x="1188720" y="1874520"/>
            <a:ext cx="3474720" cy="3474720"/>
          </a:xfrm>
          <a:prstGeom prst="ellipse">
            <a:avLst/>
          </a:prstGeom>
          <a:noFill/>
          <a:ln w="20320">
            <a:solidFill>
              <a:srgbClr val="B7C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648102" y="3333902"/>
            <a:ext cx="555955" cy="555955"/>
          </a:xfrm>
          <a:prstGeom prst="ellipse">
            <a:avLst/>
          </a:prstGeom>
          <a:noFill/>
          <a:ln w="13970">
            <a:solidFill>
              <a:srgbClr val="2E74B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102571" y="2788371"/>
            <a:ext cx="1647017" cy="1647017"/>
          </a:xfrm>
          <a:prstGeom prst="ellipse">
            <a:avLst/>
          </a:prstGeom>
          <a:noFill/>
          <a:ln w="13970">
            <a:solidFill>
              <a:srgbClr val="2E74B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557040" y="2242840"/>
            <a:ext cx="2738079" cy="2738079"/>
          </a:xfrm>
          <a:prstGeom prst="ellipse">
            <a:avLst/>
          </a:prstGeom>
          <a:noFill/>
          <a:ln w="13970">
            <a:solidFill>
              <a:srgbClr val="2E74B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 flipV="1">
            <a:off x="2926080" y="2450868"/>
            <a:ext cx="725480" cy="1161012"/>
          </a:xfrm>
          <a:prstGeom prst="line">
            <a:avLst/>
          </a:prstGeom>
          <a:ln w="3302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Oval 118"/>
          <p:cNvSpPr/>
          <p:nvPr/>
        </p:nvSpPr>
        <p:spPr>
          <a:xfrm>
            <a:off x="3373582" y="2172890"/>
            <a:ext cx="555955" cy="555955"/>
          </a:xfrm>
          <a:prstGeom prst="ellipse">
            <a:avLst/>
          </a:prstGeom>
          <a:solidFill>
            <a:srgbClr val="9DC3E6"/>
          </a:solidFill>
          <a:ln w="15240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843784" y="3529584"/>
            <a:ext cx="164592" cy="164592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989320" y="1938528"/>
            <a:ext cx="557784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Two rigid links of 20 cm, jointed at the elbow and driven independently, with one ring brush at the tip.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Three concentric passes cover 90 percent of the floor in about 44 seconds at 45 degrees per second.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brush loosens the sludge and the pump draws it out through the open centre of the head.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arm parks in a fixed pose at the start and the end of each cycle, so the hose and wires never wind up.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A 2 cm ring at the wall stays out of reach, and the design record states it.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58368" y="5504688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676656" y="5614416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96112" y="5577840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1F3864"/>
                </a:solidFill>
                <a:latin typeface="Calibri"/>
              </a:rPr>
              <a:t>Floor plan to scale, with passes at 8.0, 23.7 and 39.4 cm. Coverage uses the reachable workspace, the brush radius and a 0.3 cm overlap.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5ace02ada9_0_17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What is already built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monitor, the dashboard and the planner already run.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What remains is the arm hardware, the home unit build and twelve months of field validation.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M1 firmware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Compiles for the ESP8266.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React dashboard is stored in flash and served by the device.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Dashboard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Built and live.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Score panel, trend charts, session log and device table.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C1 controller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Compiles for the ESP32.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Burst control, pump relay, interlocks and a JSON API.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Path planner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Solves the reachable workspace and exports the plan.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Generates the header the controller compiles against.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6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What is different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value is in joining the four parts.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closest alternatives cover one part each: a monitor, a cleaning service or a pump controller.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One local system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Score, pump and cleaning share one network and one dashboard.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No cloud service, account or subscription.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Cleaning without a drain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arm removes the sludge layer and leaves the stored water in place.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 full drain is avoided on every cycle.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A measured result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Each cycle records the water before and after the clean.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owner sees whether it worked.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Reproducible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Firmware, planner and dashboard are versioned together.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coverage limit is published with the design.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25ace02ada9_0_28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Plan and milestones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Four gates in twelve months, each one a demonstration.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58368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95959"/>
                </a:solidFill>
                <a:latin typeface="Calibri"/>
              </a:rPr>
              <a:t>Every gate produces something that can be shown and measured.</a:t>
            </a:r>
          </a:p>
        </p:txBody>
      </p:sp>
      <p:graphicFrame>
        <p:nvGraphicFramePr>
          <p:cNvPr id="134" name="Table 133"/>
          <p:cNvGraphicFramePr>
            <a:graphicFrameLocks noGrp="1"/>
          </p:cNvGraphicFramePr>
          <p:nvPr/>
        </p:nvGraphicFramePr>
        <p:xfrm>
          <a:off x="658368" y="2359152"/>
          <a:ext cx="10881359" cy="28986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31520"/>
                <a:gridCol w="3749039"/>
                <a:gridCol w="1920240"/>
                <a:gridCol w="44805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Period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Delivered at the gate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Requirements and monitor prototype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+ 2 months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M1 calibrated, score validated, dashboard served from flash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Home unit and dashboard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+ 4 months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H1 pump control, session log and device table complete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Cleaning arm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+ 8 months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C1 built, three-ring cycle run, coverage measured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Field validation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+ 12 months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Three sites, 90 days of data, TRL 6 evidence pack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</a:tbl>
          </a:graphicData>
        </a:graphic>
      </p:graphicFrame>
      <p:sp>
        <p:nvSpPr>
          <p:cNvPr id="135" name="Rounded Rectangle 134"/>
          <p:cNvSpPr/>
          <p:nvPr/>
        </p:nvSpPr>
        <p:spPr>
          <a:xfrm>
            <a:off x="658368" y="553212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676656" y="564184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96112" y="560527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1F3864"/>
                </a:solidFill>
                <a:latin typeface="Calibri"/>
              </a:rPr>
              <a:t>The field phase closes with a published measurement of score accuracy, cleaning coverage and water saved against a full drain.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5ace02ada9_0_40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Impact and market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TextBox 138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buyer is the owner who pays for cleaning today.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Each cycle reports turbidity reduction, sediment reduction, score change and estimated mass removed.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Water saved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 cycle uses the water already in the tank.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 full drain discards the whole stored volume.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Pump protection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Level-based control stops the pump running dry.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manual override releases safely after ten minutes.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Early warning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 falling score shows degradation before smell or taste.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clean is planned instead of forced.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Who buys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Homes, apartment buildings, schools, hospitals and small industry.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Sold through the cleaning contractors who already visit these sites.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5ace02ada9_0_88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Budget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TextBox 144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Indicative equipment cost is INR 15,600.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58368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95959"/>
                </a:solidFill>
                <a:latin typeface="Calibri"/>
              </a:rPr>
              <a:t>The grand total of INR 23,587 adds contingency, overhead and the faculty fee.</a:t>
            </a:r>
          </a:p>
        </p:txBody>
      </p:sp>
      <p:graphicFrame>
        <p:nvGraphicFramePr>
          <p:cNvPr id="147" name="Table 146"/>
          <p:cNvGraphicFramePr>
            <a:graphicFrameLocks noGrp="1"/>
          </p:cNvGraphicFramePr>
          <p:nvPr/>
        </p:nvGraphicFramePr>
        <p:xfrm>
          <a:off x="1417320" y="2395728"/>
          <a:ext cx="9235439" cy="2971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468880"/>
                <a:gridCol w="3749039"/>
                <a:gridCol w="1554480"/>
                <a:gridCol w="146304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Specification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Amount (INR)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M1 monitor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ESP8266, 5 probes, solar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6,500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H1 home unit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ESP8266, 1.8 inch display, relay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1,800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+ 4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C1 cleaning arm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ESP32, 2 gearmotors, pump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7,300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+ 8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Equipment total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15,600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with contingency, overhead and fee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23,587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8" name="Rounded Rectangle 147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1F3864"/>
                </a:solidFill>
                <a:latin typeface="Calibri"/>
              </a:rPr>
              <a:t>Figures are vendor quotes pending confirmation. Manpower, travel and consumables are agreed at the grant kickoff.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25ace02ada9_0_59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Funding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Funding status, and what the grant pays for.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grant covers the monitor, the home unit, the cleaning arm and the field evidence pack.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Requested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INR 23,587 over twelve months.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Equipment is INR 15,600 of that total.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Released in tranches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8,235 at T0, 9,415 at T0 + 6 months, 5,937 at T0 + 12 months.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80 percent of each tranche is spent before the next is claimed.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Industry partner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Nuke Labs provides build facilities, field access and validation.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partner also carries the commercialisation path.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TextBox 161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Status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No funding secured yet.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This proposal is the first formal request.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25ace02ada9_0_47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Team and conclusion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TextBox 155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One team, twelve months, a working system at TRL 6.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58368" y="2121408"/>
            <a:ext cx="5285232" cy="237744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932688" y="2231136"/>
            <a:ext cx="4736592" cy="2157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The team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Principal Investigator: Dr. Vishnu Vasudev, Department of Electronics and Communication Engineering.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Industry partner: Nuke Labs, for hardware build, field installations and commercialisation.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6245352" y="2121408"/>
            <a:ext cx="5285232" cy="237744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6519672" y="2231136"/>
            <a:ext cx="4736592" cy="2157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What the grant delivers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M1 and H1 running in the field, with the dashboard served by the tank unit.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C1 arm and its planner, with the coverage limit stated.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Three installations and 90 days of evidence at TRL 6.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58368" y="4892040"/>
            <a:ext cx="10881360" cy="822960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676656" y="5001768"/>
            <a:ext cx="54864" cy="603504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96112" y="4965192"/>
            <a:ext cx="104241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F3864"/>
                </a:solidFill>
                <a:latin typeface="Calibri"/>
              </a:rPr>
              <a:t>TankGuard gives a tank owner a reading, a clean, and a record of what changed.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07179" y="1318200"/>
            <a:ext cx="7498389" cy="4221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2021-07-30T08:41:46Z</dcterms:created>
  <dc:creator>Admin</dc:creator>
</cp:coreProperties>
</file>