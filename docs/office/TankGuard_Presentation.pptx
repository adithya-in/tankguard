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jmDPn+hViabtQEGtCqQjvo8vRa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C1D5661-CA1B-4B0B-BF73-699FFBA18C49}">
  <a:tblStyle styleId="{3C1D5661-CA1B-4B0B-BF73-699FFBA18C49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fill>
          <a:solidFill>
            <a:srgbClr val="CDD4E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DD4EA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0" name="Google Shape;80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5ace02ada9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g25ace02ada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5ace02ada9_0_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25ace02ada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5ace02ada9_0_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g25ace02ada9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5ace02ada9_0_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25ace02ada9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5ace02ada9_0_2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25ace02ada9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5ace02ada9_0_4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25ace02ada9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5ace02ada9_0_8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g25ace02ada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5ace02ada9_0_5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g25ace02ada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ace02ada9_0_4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g25ace02ada9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8" name="Google Shape;158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" name="Google Shape;15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" name="Google Shape;16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9" name="Google Shape;19;p5"/>
          <p:cNvCxnSpPr/>
          <p:nvPr/>
        </p:nvCxnSpPr>
        <p:spPr>
          <a:xfrm>
            <a:off x="3939989" y="803400"/>
            <a:ext cx="4312023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_Title and Content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4" name="Google Shape;24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6" name="Google Shape;36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" name="Google Shape;40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1" name="Google Shape;41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2" name="Google Shape;42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0" name="Google Shape;5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0" name="Google Shape;70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5" name="Google Shape;7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6" name="Google Shape;7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orange logo&#10;&#10;Description automatically generated" id="6" name="Google Shape;6;p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331690" y="245466"/>
            <a:ext cx="1506070" cy="55793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"/>
          <p:cNvSpPr/>
          <p:nvPr/>
        </p:nvSpPr>
        <p:spPr>
          <a:xfrm>
            <a:off x="0" y="1154249"/>
            <a:ext cx="12192000" cy="43396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>
                <a:srgbClr val="000000"/>
              </a:buClr>
              <a:buSzPts val="3600"/>
              <a:buFont typeface="Arial"/>
              <a:buNone/>
              <a:defRPr sz="3600" b="1"/>
            </a:pPr>
            <a:r>
              <a:rPr sz="4600" b="1" i="0">
                <a:solidFill>
                  <a:srgbClr val="1F3864"/>
                </a:solidFill>
                <a:latin typeface="Calibri"/>
              </a:rPr>
              <a:t>TankGuard</a:t>
            </a:r>
            <a:endParaRPr b="0" i="0" sz="16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ct val="100000"/>
              </a:lnSpc>
              <a:spcAft>
                <a:spcPts val="2000"/>
              </a:spcAft>
            </a:pPr>
            <a:r>
              <a:rPr sz="1900" b="0" i="0">
                <a:solidFill>
                  <a:srgbClr val="595959"/>
                </a:solidFill>
                <a:latin typeface="Calibri"/>
              </a:rPr>
              <a:t>Self-powered monitoring, pump control and sludge cleaning for water tanks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E74B5"/>
                </a:solidFill>
                <a:latin typeface="Calibri"/>
              </a:rPr>
              <a:t>Dr. Vishnu Vasudev, Sree Buddha College of Engineering</a:t>
            </a:r>
          </a:p>
          <a:p>
            <a:pPr algn="ctr">
              <a:lnSpc>
                <a:spcPct val="100000"/>
              </a:lnSpc>
              <a:spcAft>
                <a:spcPts val="12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Industry partner: Nuke Labs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TIH IoT Technology Development Program 2026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Theme: Water Management   |   Submission: 31 October 2026</a:t>
            </a:r>
          </a:p>
        </p:txBody>
      </p:sp>
      <p:pic>
        <p:nvPicPr>
          <p:cNvPr id="83" name="Picture 82" descr="iit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5806440"/>
            <a:ext cx="960120" cy="7650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problem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A tank degrades quietly, and the owner finds out weeks later.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By the time the problem is visible, the water has been unsafe for weeks.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58368" y="2148840"/>
            <a:ext cx="5285232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932688" y="2258568"/>
            <a:ext cx="4736592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Inside the tank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Chlorine residual falls to zero within 24 to 48 hours of filling.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Suspended solids settle into a sludge layer on the floor.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Biofilm forms on the walls, and algae grow faster in warm water.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45352" y="2148840"/>
            <a:ext cx="5285232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519672" y="2258568"/>
            <a:ext cx="4736592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owner sees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Cleaning happens on a calendar, usually once or twice a year.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Safety is judged by smell, colour and taste.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Nothing records how the water changed since the last clean.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5ace02ada9_0_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Why current practice fails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two available options each solve half of the problem.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Schools, hospitals and apartment buildings clean the largest volumes on the loosest schedule.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8368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932688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Monitor only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Sensors report turbidity and TDS and stop there.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sludge layer keeps feeding the reading, so the warning repeats.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352544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4626864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Drain and scrub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A full drain discards the stored water.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It needs labour and a shutdown, and leaves the tank empty for hours.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046720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8321040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No record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Neither option measures the water before and after the clean.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owner cannot tell whether the work helped.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25ace02ada9_0_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system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Three units on one local network, with no cloud service and no account.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dashboard is served by the tank unit itself, so it keeps working when the internet does not.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58368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932688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M1  Tank monitor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ESP8266 on the tank lid.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Five submerged probes read through a 16-bit ADC.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Computes the score and serves the dashboard from its own flash.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352544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4626864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H1  Home unit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ESP8266 beside the pump switch.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1.8 inch colour display for the score and the four readings.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Isolated relay and contactor, with automatic and manual pump control.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046720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8321040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C1  Cleaning arm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ESP32 controller.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Two 20 cm links, a ring brush and a suction head.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Runs a planned path over the floor and keeps the water in the tank.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score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Five readings become one number between 0 and 100.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8368" y="2084831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Turbidity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542032" y="2130551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2542032" y="2130551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138928" y="2084831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40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8368" y="2651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TDS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542032" y="2697479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2542032" y="2697479"/>
            <a:ext cx="1571625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138928" y="2651760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" y="3218687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pH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542032" y="3264407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2542032" y="3264407"/>
            <a:ext cx="1571625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38928" y="3218687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8368" y="3785615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Temperature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542032" y="3831335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2542032" y="3831335"/>
            <a:ext cx="628650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138928" y="3785615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10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8368" y="449884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Weights out of 100. Water level is tracked for pump control and is not part of the score.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309360" y="2084831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GOOD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092440" y="2066543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70 to 100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Water is within limits. Keep the normal cycle.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309360" y="3163824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92440" y="3145536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40 to 69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One parameter is drifting. Plan a clean.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309360" y="4242816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ATTENTION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92440" y="4224528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below 40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Clean now, then check the source water.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58368" y="5138928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676656" y="5248656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96112" y="5212080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same bands drive the tank display and the dashboard, so the two never disagree.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5ace02ada9_0_2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cleaning arm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arm cleans the floor and the tank keeps its water.</a:t>
            </a:r>
          </a:p>
        </p:txBody>
      </p:sp>
      <p:sp>
        <p:nvSpPr>
          <p:cNvPr id="114" name="Oval 113"/>
          <p:cNvSpPr/>
          <p:nvPr/>
        </p:nvSpPr>
        <p:spPr>
          <a:xfrm>
            <a:off x="1188720" y="1874520"/>
            <a:ext cx="3474720" cy="3474720"/>
          </a:xfrm>
          <a:prstGeom prst="ellipse">
            <a:avLst/>
          </a:prstGeom>
          <a:noFill/>
          <a:ln w="20320">
            <a:solidFill>
              <a:srgbClr val="B7C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648102" y="3333902"/>
            <a:ext cx="555955" cy="555955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02571" y="2788371"/>
            <a:ext cx="1647017" cy="1647017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557040" y="2242840"/>
            <a:ext cx="2738079" cy="2738079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2926080" y="2450868"/>
            <a:ext cx="725480" cy="1161012"/>
          </a:xfrm>
          <a:prstGeom prst="line">
            <a:avLst/>
          </a:prstGeom>
          <a:ln w="3302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3373582" y="2172890"/>
            <a:ext cx="555955" cy="555955"/>
          </a:xfrm>
          <a:prstGeom prst="ellipse">
            <a:avLst/>
          </a:prstGeom>
          <a:solidFill>
            <a:srgbClr val="9DC3E6"/>
          </a:solidFill>
          <a:ln w="1524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843784" y="3529584"/>
            <a:ext cx="164592" cy="164592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989320" y="1938528"/>
            <a:ext cx="55778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Two rigid links of 20 cm, jointed at the elbow and driven independently, with one ring brush at the tip.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Three concentric passes cover 90 percent of the floor in about 44 seconds at 45 degrees per second.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brush loosens the sludge and the pump draws it out through the open centre of the head.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arm parks in a fixed pose at the start and the end of each cycle, so the hose and wires never wind up.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A 2 cm ring at the wall stays out of reach, and the design record states it.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58368" y="5504688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676656" y="5614416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96112" y="5577840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Floor plan to scale, with passes at 8.0, 23.7 and 39.4 cm. Coverage uses the reachable workspace, the brush radius and a 0.3 cm overlap.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5ace02ada9_0_1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What is already built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monitoring prototype is built and runs at TRL 6.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INR 23,587 of prototype parts, already invested. The grant funds the arm hardware, the home unit build and certification.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M1 firmware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Compiles for the ESP8266.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React dashboard is stored in flash and served by the device.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Dashboard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Built and live.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Score panel, trend charts, session log and device table.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C1 controller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Compiles for the ESP32.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Burst control, pump relay, interlocks and a JSON API.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Path planner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Solves the reachable workspace and exports the plan.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Generates the header the controller compiles against.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What is different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value is in joining the four parts.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closest alternatives cover one part each: a monitor, a cleaning service or a pump controller.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One local system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Score, pump and cleaning share one network and one dashboard.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No cloud service, account or subscription.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Cleaning without a drain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arm removes the sludge layer and leaves the stored water in place.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full drain is avoided on every cycle.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A measured result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Each cycle records the water before and after the clean.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owner sees whether it worked.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Reproducible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Firmware, planner and dashboard are versioned together.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coverage limit is published with the design.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5ace02ada9_0_2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Plan and milestones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Four gates in twelve months, each one a commercial step.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58368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Calibri"/>
              </a:rPr>
              <a:t>The prototype is the starting point. Each gate moves it closer to a sellable unit.</a:t>
            </a:r>
          </a:p>
        </p:txBody>
      </p:sp>
      <p:graphicFrame>
        <p:nvGraphicFramePr>
          <p:cNvPr id="134" name="Table 133"/>
          <p:cNvGraphicFramePr>
            <a:graphicFrameLocks noGrp="1"/>
          </p:cNvGraphicFramePr>
          <p:nvPr/>
        </p:nvGraphicFramePr>
        <p:xfrm>
          <a:off x="658368" y="2359152"/>
          <a:ext cx="10881359" cy="28986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31520"/>
                <a:gridCol w="3749039"/>
                <a:gridCol w="1920240"/>
                <a:gridCol w="44805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Delivered at the gate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Design freeze and line procurement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+ 3 months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Line installed, design frozen, certification scope agreed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Pilot build and lab qualification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+ 6 months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25 sets, IP68 and EMC passed, unit cost confirmed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Field deployment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+ 9 months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12 sites in 3 cities, 60 days of operation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Commercial readiness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+ 12 months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Certification filed, 3 paying pilots, TRL 8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</a:tbl>
          </a:graphicData>
        </a:graphic>
      </p:graphicFrame>
      <p:sp>
        <p:nvSpPr>
          <p:cNvPr id="135" name="Rounded Rectangle 134"/>
          <p:cNvSpPr/>
          <p:nvPr/>
        </p:nvSpPr>
        <p:spPr>
          <a:xfrm>
            <a:off x="658368" y="553212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676656" y="564184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96112" y="560527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The last gate is a sale: three paying customers and a signed channel agreement, with the unit cost proven.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5ace02ada9_0_4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Impact and market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buyer is the contractor who already charges for the clean.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A tank clean sells for INR 1,500 to 4,000, so the arm is sold to whoever already charges for it.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Who buys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Cleaning contractors and facility managers first.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Households reach the product through them.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Price target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39,999 for M1, H1 and C1.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Against INR 15,600 of parts, a 61 percent margin.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Market base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About 47 million urban tanks.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Plus 1.5 million schools and 70,000 hospitals.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Water saved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cycle uses the water already in the tank.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full drain discards the whole stored volume.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5ace02ada9_0_8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Budget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request is INR 47.03 lakh for twelve months.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8368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Calibri"/>
              </a:rPr>
              <a:t>The pilot line, two engineers, the pilot units and the field work. GST is on the total.</a:t>
            </a:r>
          </a:p>
        </p:txBody>
      </p:sp>
      <p:graphicFrame>
        <p:nvGraphicFramePr>
          <p:cNvPr id="147" name="Table 146"/>
          <p:cNvGraphicFramePr>
            <a:graphicFrameLocks noGrp="1"/>
          </p:cNvGraphicFramePr>
          <p:nvPr/>
        </p:nvGraphicFramePr>
        <p:xfrm>
          <a:off x="658368" y="2240280"/>
          <a:ext cx="5120640" cy="3154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head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Amount (INR)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Equipment (pilot line)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24,27,288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Manpower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7,20,000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Consumables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3,40,000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Travel and misc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1,17,966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Contingency, faculty, GST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10,97,656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47,02,910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</a:tbl>
          </a:graphicData>
        </a:graphic>
      </p:graphicFrame>
      <p:sp>
        <p:nvSpPr>
          <p:cNvPr id="148" name="Rounded Rectangle 147"/>
          <p:cNvSpPr/>
          <p:nvPr/>
        </p:nvSpPr>
        <p:spPr>
          <a:xfrm>
            <a:off x="5989320" y="2240280"/>
            <a:ext cx="5486400" cy="31089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263640" y="2350008"/>
            <a:ext cx="4937760" cy="2889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grant buys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pilot line: moulder, moulds, printer, PnP, reflow.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Two Nuke Labs engineers for twelve months.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Twenty-five pilot sets and the test fixtures.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Twelve field installations.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58368" y="562356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676656" y="573328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6112" y="569671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Prototype spend to date is INR 23,587, already invested. The request builds the line and the product.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5ace02ada9_0_59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Funding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INR 47.03 lakh builds the pilot line and the product.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grant pays for the pilot line, the pilot units and two engineers, which a first customer will not fund.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Requested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47,02,910 over twelve months, GST included.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That is 94 percent of the programme ceiling.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Already invested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23,587 of prototype parts.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monitor, dashboard and planner already run.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Released in tranches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25.66 lakh at T0, 16.24 lakh at month 6, 5.13 lakh at month 12.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80 percent of each tranche is spent before the next is claimed.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Partner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Nuke Labs provides build facilities, field access and the service channel.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partner carries the commercialisation path.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5ace02ada9_0_4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Team and conclusion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A working monitor today. A certified system in twelve months.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58368" y="2121408"/>
            <a:ext cx="5285232" cy="237744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932688" y="2231136"/>
            <a:ext cx="4736592" cy="2157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The team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Principal Investigator: Dr. Vishnu Vasudev, Sree Buddha College of Engineering, Department of Electronics and Communication Engineering.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Industry partner: Nuke Labs, for hardware build, field access and the service channel.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245352" y="2121408"/>
            <a:ext cx="5285232" cy="237744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6519672" y="2231136"/>
            <a:ext cx="4736592" cy="2157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grant delivers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Twenty-five pilot units and twelve installations in three cities.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Certification filed, with the unit cost proven.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Three paying pilot customers and a signed channel agreement.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58368" y="4892040"/>
            <a:ext cx="10881360" cy="822960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676656" y="5001768"/>
            <a:ext cx="54864" cy="60350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96112" y="4965192"/>
            <a:ext cx="104241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F3864"/>
                </a:solidFill>
                <a:latin typeface="Calibri"/>
              </a:rPr>
              <a:t>TankGuard gives a tank owner a reading, a clean, and a record of what changed.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7179" y="1318200"/>
            <a:ext cx="7498389" cy="4221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2021-07-30T08:41:46Z</dcterms:created>
  <dc:creator>Admin</dc:creator>
</cp:coreProperties>
</file>